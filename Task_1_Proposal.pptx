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D4A24C"/>
                </a:solidFill>
                <a:latin typeface="Outfit"/>
              </a:defRPr>
            </a:pPr>
            <a:r>
              <a:t>AL SAFA AR DINING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  <a:latin typeface="Outfit"/>
              </a:defRPr>
            </a:pPr>
            <a:r>
              <a:t>Task 1: Interactive AR Digital Menu Proposal (80-Item Database)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38912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C8C8"/>
                </a:solidFill>
                <a:latin typeface="Inter"/>
              </a:defRPr>
            </a:pPr>
            <a:r>
              <a:t>Course: Introduction to Multimedia Technology (BMD12083)</a:t>
            </a:r>
            <a:br/>
            <a:r>
              <a:t>Prepared for: Raffles University Johor Bahru</a:t>
            </a:r>
            <a:br/>
            <a:r>
              <a:t>Submitted by: Shanjaay (Student ID: 202420058)</a:t>
            </a:r>
          </a:p>
        </p:txBody>
      </p:sp>
      <p:pic>
        <p:nvPicPr>
          <p:cNvPr id="5" name="Picture 4" descr="restaura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01168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24C"/>
                </a:solidFill>
                <a:latin typeface="Outfit"/>
              </a:defRPr>
            </a:pPr>
            <a:r>
              <a:t>AL SAFA AR DINING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Outfit"/>
              </a:defRPr>
            </a:pPr>
            <a:r>
              <a:t>Project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8C8C8"/>
                </a:solidFill>
                <a:latin typeface="Inter"/>
              </a:defRPr>
            </a:pPr>
            <a:r>
              <a:t>Mamak Food Culture: Traditional menus lack interactive visual contexts and customization transparency, leading to orders that fail to match user customized tastes.</a:t>
            </a:r>
          </a:p>
          <a:p>
            <a:pPr>
              <a:spcAft>
                <a:spcPts val="800"/>
              </a:spcAft>
              <a:defRPr sz="1600">
                <a:solidFill>
                  <a:srgbClr val="C8C8C8"/>
                </a:solidFill>
                <a:latin typeface="Inter"/>
              </a:defRPr>
            </a:pPr>
            <a:r>
              <a:t>The Solution: Al Safa AR Dining is a responsive web application offering a massive digital menu database containing all 80 items from Mamak_Menu_Malaysia.docx.</a:t>
            </a:r>
          </a:p>
          <a:p>
            <a:pPr>
              <a:spcAft>
                <a:spcPts val="800"/>
              </a:spcAft>
              <a:defRPr sz="1600">
                <a:solidFill>
                  <a:srgbClr val="C8C8C8"/>
                </a:solidFill>
                <a:latin typeface="Inter"/>
              </a:defRPr>
            </a:pPr>
            <a:r>
              <a:t>Real-Time Overlays: Allows customers to adjust specifications (egg yolk paste, cheese slices, chili rings, flooded curry) and watch changes update instantly.</a:t>
            </a:r>
          </a:p>
          <a:p>
            <a:pPr>
              <a:spcAft>
                <a:spcPts val="800"/>
              </a:spcAft>
              <a:defRPr sz="1600">
                <a:solidFill>
                  <a:srgbClr val="C8C8C8"/>
                </a:solidFill>
                <a:latin typeface="Inter"/>
              </a:defRPr>
            </a:pPr>
            <a:r>
              <a:t>Quality Aesthetics: A luxury obsidian black, midnight green, and gold accents design system optimized for modern ambient dining layouts.</a:t>
            </a:r>
          </a:p>
        </p:txBody>
      </p:sp>
      <p:pic>
        <p:nvPicPr>
          <p:cNvPr id="6" name="Picture 5" descr="nasi_lem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645920"/>
            <a:ext cx="347472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24C"/>
                </a:solidFill>
                <a:latin typeface="Outfit"/>
              </a:defRPr>
            </a:pPr>
            <a:r>
              <a:t>AL SAFA AR DINING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Outfit"/>
              </a:defRPr>
            </a:pPr>
            <a:r>
              <a:t>Comprehensive 80-Item Menu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8C8C8"/>
                </a:solidFill>
                <a:latin typeface="Inter"/>
              </a:defRPr>
            </a:pPr>
            <a:r>
              <a:t>Full Menu Integration: Loaded all 80 menu items from the official Mamak Menu database, ranging from RM1.95 (Teh O) up to RM16.90 (Nasi Goreng Special).</a:t>
            </a:r>
          </a:p>
          <a:p>
            <a:pPr>
              <a:spcAft>
                <a:spcPts val="800"/>
              </a:spcAft>
              <a:defRPr sz="1600">
                <a:solidFill>
                  <a:srgbClr val="C8C8C8"/>
                </a:solidFill>
                <a:latin typeface="Inter"/>
              </a:defRPr>
            </a:pPr>
            <a:r>
              <a:t>Categorized Navigation: Features 8 specific category filters: Roti/Flatbreads (15), Nasi Goreng (16), Noodles (9), Nasi Dishes (3), Sides/Lauk (5), Snacks/Desserts (6), Hot Drinks (10), Cold Drinks (11), and Specialty Drinks (5).</a:t>
            </a:r>
          </a:p>
          <a:p>
            <a:pPr>
              <a:spcAft>
                <a:spcPts val="800"/>
              </a:spcAft>
              <a:defRPr sz="1600">
                <a:solidFill>
                  <a:srgbClr val="C8C8C8"/>
                </a:solidFill>
                <a:latin typeface="Inter"/>
              </a:defRPr>
            </a:pPr>
            <a:r>
              <a:t>Visual Assets Mapping: High-fidelity renders act as structural templates to dynamically represent all 80 distinct items.</a:t>
            </a:r>
          </a:p>
        </p:txBody>
      </p:sp>
      <p:pic>
        <p:nvPicPr>
          <p:cNvPr id="6" name="Picture 5" descr="nasi_kan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645920"/>
            <a:ext cx="347472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24C"/>
                </a:solidFill>
                <a:latin typeface="Outfit"/>
              </a:defRPr>
            </a:pPr>
            <a:r>
              <a:t>AL SAFA AR DINING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Outfit"/>
              </a:defRPr>
            </a:pPr>
            <a:r>
              <a:t>Real-Time Visual Customizers (AR Canvas)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45920"/>
            <a:ext cx="5120640" cy="4114800"/>
          </a:xfrm>
          <a:prstGeom prst="rect">
            <a:avLst/>
          </a:prstGeom>
          <a:solidFill>
            <a:srgbClr val="142A22"/>
          </a:solidFill>
          <a:ln w="12700">
            <a:solidFill>
              <a:srgbClr val="D4A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3C06B"/>
                </a:solidFill>
                <a:latin typeface="Outfit"/>
              </a:defRPr>
            </a:pPr>
            <a:r>
              <a:t>FOOD CUSTOMIZERS (AR OVERLAYS)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8C8C8"/>
                </a:solidFill>
                <a:latin typeface="Inter"/>
              </a:defRPr>
            </a:pPr>
            <a:r>
              <a:t>Roti Flatbreads: Programmatically overlays melted cheese grids, sunny egg yolks, or white condensed milk spirals.</a:t>
            </a:r>
          </a:p>
          <a:p>
            <a:pPr>
              <a:spcAft>
                <a:spcPts val="800"/>
              </a:spcAft>
              <a:defRPr sz="1300">
                <a:solidFill>
                  <a:srgbClr val="C8C8C8"/>
                </a:solidFill>
                <a:latin typeface="Inter"/>
              </a:defRPr>
            </a:pPr>
            <a:r>
              <a:t>Fried Rice &amp; Noodles: Toggle spiciness (Mild, Medium, Extra Hot) to scatter red chili rings and apply red glow filters.</a:t>
            </a:r>
          </a:p>
          <a:p>
            <a:pPr>
              <a:spcAft>
                <a:spcPts val="800"/>
              </a:spcAft>
              <a:defRPr sz="1300">
                <a:solidFill>
                  <a:srgbClr val="C8C8C8"/>
                </a:solidFill>
                <a:latin typeface="Inter"/>
              </a:defRPr>
            </a:pPr>
            <a:r>
              <a:t>Curry Flood (Banjir): Adjust curry gravy height on the food plate visual using custom sliders.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120640" cy="4114800"/>
          </a:xfrm>
          <a:prstGeom prst="rect">
            <a:avLst/>
          </a:prstGeom>
          <a:solidFill>
            <a:srgbClr val="142A22"/>
          </a:solidFill>
          <a:ln w="12700">
            <a:solidFill>
              <a:srgbClr val="D4A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3C06B"/>
                </a:solidFill>
                <a:latin typeface="Outfit"/>
              </a:defRPr>
            </a:pPr>
            <a:r>
              <a:t>DRINK SLIDERS &amp; ZOOM DIALS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8C8C8"/>
                </a:solidFill>
                <a:latin typeface="Inter"/>
              </a:defRPr>
            </a:pPr>
            <a:r>
              <a:t>Drinks Customizer: Ice level adjustments spawn transparent ice cubes; milk/rose cordial levels adjust opacity and tea/pink milk hues.</a:t>
            </a:r>
          </a:p>
          <a:p>
            <a:pPr>
              <a:spcAft>
                <a:spcPts val="800"/>
              </a:spcAft>
              <a:defRPr sz="1300">
                <a:solidFill>
                  <a:srgbClr val="C8C8C8"/>
                </a:solidFill>
                <a:latin typeface="Inter"/>
              </a:defRPr>
            </a:pPr>
            <a:r>
              <a:t>Milo Dinosaur: Adjust Milo powder slider to dynamically expand or scale the brown cocoa heap representation.</a:t>
            </a:r>
          </a:p>
          <a:p>
            <a:pPr>
              <a:spcAft>
                <a:spcPts val="800"/>
              </a:spcAft>
              <a:defRPr sz="1300">
                <a:solidFill>
                  <a:srgbClr val="C8C8C8"/>
                </a:solidFill>
                <a:latin typeface="Inter"/>
              </a:defRPr>
            </a:pPr>
            <a:r>
              <a:t>Zoom &amp; Rotate: Perform 360-degree rotations and up to 1.8x scale transforms on 3D plate models.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24C"/>
                </a:solidFill>
                <a:latin typeface="Outfit"/>
              </a:defRPr>
            </a:pPr>
            <a:r>
              <a:t>AL SAFA AR DINING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Outfit"/>
              </a:defRPr>
            </a:pPr>
            <a:r>
              <a:t>Technology &amp; Software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8C8C8"/>
                </a:solidFill>
                <a:latin typeface="Inter"/>
              </a:defRPr>
            </a:pPr>
            <a:r>
              <a:t>Application Framework: Flutter (Dart) for high-performance cross-platform web and mobile compilations.</a:t>
            </a:r>
          </a:p>
          <a:p>
            <a:pPr>
              <a:spcAft>
                <a:spcPts val="800"/>
              </a:spcAft>
              <a:defRPr sz="1600">
                <a:solidFill>
                  <a:srgbClr val="C8C8C8"/>
                </a:solidFill>
                <a:latin typeface="Inter"/>
              </a:defRPr>
            </a:pPr>
            <a:r>
              <a:t>Design &amp; Modeling: Figma for high-fidelity UI layout vectors, and Blender for 3D modeling of foods.</a:t>
            </a:r>
          </a:p>
          <a:p>
            <a:pPr>
              <a:spcAft>
                <a:spcPts val="800"/>
              </a:spcAft>
              <a:defRPr sz="1600">
                <a:solidFill>
                  <a:srgbClr val="C8C8C8"/>
                </a:solidFill>
                <a:latin typeface="Inter"/>
              </a:defRPr>
            </a:pPr>
            <a:r>
              <a:t>Asset Compilation: Adobe Photoshop for texture editing; image generation and processing.</a:t>
            </a:r>
          </a:p>
          <a:p>
            <a:pPr>
              <a:spcAft>
                <a:spcPts val="800"/>
              </a:spcAft>
              <a:defRPr sz="1600">
                <a:solidFill>
                  <a:srgbClr val="C8C8C8"/>
                </a:solidFill>
                <a:latin typeface="Inter"/>
              </a:defRPr>
            </a:pPr>
            <a:r>
              <a:t>Interactive Engine: Programmatic transformation matrices and custom overlay painters simulating spatial camera views.</a:t>
            </a:r>
          </a:p>
        </p:txBody>
      </p:sp>
      <p:pic>
        <p:nvPicPr>
          <p:cNvPr id="6" name="Picture 5" descr="milo_dinosa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645920"/>
            <a:ext cx="347472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24C"/>
                </a:solidFill>
                <a:latin typeface="Outfit"/>
              </a:defRPr>
            </a:pPr>
            <a:r>
              <a:t>AL SAFA AR DINING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Outfit"/>
              </a:defRPr>
            </a:pPr>
            <a:r>
              <a:t>Project Cost &amp; Budget Estimation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8C8C8"/>
                </a:solidFill>
                <a:latin typeface="Inter"/>
              </a:defRPr>
            </a:pPr>
            <a:r>
              <a:t>Software Licensing: Adobe Creative Cloud &amp; Blender (RM 250 / Month - Student License)</a:t>
            </a:r>
          </a:p>
          <a:p>
            <a:pPr>
              <a:spcAft>
                <a:spcPts val="800"/>
              </a:spcAft>
              <a:defRPr sz="1600">
                <a:solidFill>
                  <a:srgbClr val="C8C8C8"/>
                </a:solidFill>
                <a:latin typeface="Inter"/>
              </a:defRPr>
            </a:pPr>
            <a:r>
              <a:t>Hardware Resources: High-Performance GPU rendering workstation (RM 4,500 - One-time)</a:t>
            </a:r>
          </a:p>
          <a:p>
            <a:pPr>
              <a:spcAft>
                <a:spcPts val="800"/>
              </a:spcAft>
              <a:defRPr sz="1600">
                <a:solidFill>
                  <a:srgbClr val="C8C8C8"/>
                </a:solidFill>
                <a:latin typeface="Inter"/>
              </a:defRPr>
            </a:pPr>
            <a:r>
              <a:t>Assets &amp; Hosting: Web deployment server and cloud assets storage (RM 120 / Month)</a:t>
            </a:r>
          </a:p>
          <a:p>
            <a:pPr>
              <a:spcAft>
                <a:spcPts val="800"/>
              </a:spcAft>
              <a:defRPr sz="1600">
                <a:solidFill>
                  <a:srgbClr val="C8C8C8"/>
                </a:solidFill>
                <a:latin typeface="Inter"/>
              </a:defRPr>
            </a:pPr>
            <a:r>
              <a:t>Printed Marketing: NFC-integrated QR wooden table stands (RM 400 - One-time)</a:t>
            </a:r>
          </a:p>
          <a:p>
            <a:pPr>
              <a:spcAft>
                <a:spcPts val="800"/>
              </a:spcAft>
              <a:defRPr sz="1600">
                <a:solidFill>
                  <a:srgbClr val="C8C8C8"/>
                </a:solidFill>
                <a:latin typeface="Inter"/>
              </a:defRPr>
            </a:pPr>
            <a:r>
              <a:t>Estimated Total Project Budget: RM 5,770 (Initial setup and first 3 months operating costs)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24C"/>
                </a:solidFill>
                <a:latin typeface="Outfit"/>
              </a:defRPr>
            </a:pPr>
            <a:r>
              <a:t>AL SAFA AR DINING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Outfit"/>
              </a:defRPr>
            </a:pPr>
            <a:r>
              <a:t>Project Development Timeline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45920"/>
          <a:ext cx="107899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8229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D4A24C"/>
                          </a:solidFill>
                          <a:latin typeface="Inter"/>
                        </a:defRPr>
                      </a:pPr>
                      <a:r>
                        <a:t>PHASE / TASK</a:t>
                      </a:r>
                    </a:p>
                  </a:txBody>
                  <a:tcPr>
                    <a:solidFill>
                      <a:srgbClr val="0F2A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D4A24C"/>
                          </a:solidFill>
                          <a:latin typeface="Inter"/>
                        </a:defRPr>
                      </a:pPr>
                      <a:r>
                        <a:t>DURATION</a:t>
                      </a:r>
                    </a:p>
                  </a:txBody>
                  <a:tcPr>
                    <a:solidFill>
                      <a:srgbClr val="0F2A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D4A24C"/>
                          </a:solidFill>
                          <a:latin typeface="Inter"/>
                        </a:defRPr>
                      </a:pPr>
                      <a:r>
                        <a:t>DELIVERABLES</a:t>
                      </a:r>
                    </a:p>
                  </a:txBody>
                  <a:tcPr>
                    <a:solidFill>
                      <a:srgbClr val="0F2A1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C8C8"/>
                          </a:solidFill>
                          <a:latin typeface="Inter"/>
                        </a:defRPr>
                      </a:pPr>
                      <a:r>
                        <a:t>Phase 1: Planning &amp; Research</a:t>
                      </a:r>
                    </a:p>
                  </a:txBody>
                  <a:tcPr>
                    <a:solidFill>
                      <a:srgbClr val="142A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C8C8"/>
                          </a:solidFill>
                          <a:latin typeface="Inter"/>
                        </a:defRPr>
                      </a:pPr>
                      <a:r>
                        <a:t>Weeks 1 - 3</a:t>
                      </a:r>
                    </a:p>
                  </a:txBody>
                  <a:tcPr>
                    <a:solidFill>
                      <a:srgbClr val="142A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C8C8"/>
                          </a:solidFill>
                          <a:latin typeface="Inter"/>
                        </a:defRPr>
                      </a:pPr>
                      <a:r>
                        <a:t>Project proposal, storyboard drafts, user journey maps.</a:t>
                      </a:r>
                    </a:p>
                  </a:txBody>
                  <a:tcPr>
                    <a:solidFill>
                      <a:srgbClr val="142A2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C8C8"/>
                          </a:solidFill>
                          <a:latin typeface="Inter"/>
                        </a:defRPr>
                      </a:pPr>
                      <a:r>
                        <a:t>Phase 2: Asset Production</a:t>
                      </a:r>
                    </a:p>
                  </a:txBody>
                  <a:tcPr>
                    <a:solidFill>
                      <a:srgbClr val="142A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C8C8"/>
                          </a:solidFill>
                          <a:latin typeface="Inter"/>
                        </a:defRPr>
                      </a:pPr>
                      <a:r>
                        <a:t>Weeks 4 - 7</a:t>
                      </a:r>
                    </a:p>
                  </a:txBody>
                  <a:tcPr>
                    <a:solidFill>
                      <a:srgbClr val="142A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C8C8"/>
                          </a:solidFill>
                          <a:latin typeface="Inter"/>
                        </a:defRPr>
                      </a:pPr>
                      <a:r>
                        <a:t>3D food models, background plates, photography styling.</a:t>
                      </a:r>
                    </a:p>
                  </a:txBody>
                  <a:tcPr>
                    <a:solidFill>
                      <a:srgbClr val="142A2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C8C8"/>
                          </a:solidFill>
                          <a:latin typeface="Inter"/>
                        </a:defRPr>
                      </a:pPr>
                      <a:r>
                        <a:t>Phase 3: App Development</a:t>
                      </a:r>
                    </a:p>
                  </a:txBody>
                  <a:tcPr>
                    <a:solidFill>
                      <a:srgbClr val="142A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C8C8"/>
                          </a:solidFill>
                          <a:latin typeface="Inter"/>
                        </a:defRPr>
                      </a:pPr>
                      <a:r>
                        <a:t>Weeks 8 - 11</a:t>
                      </a:r>
                    </a:p>
                  </a:txBody>
                  <a:tcPr>
                    <a:solidFill>
                      <a:srgbClr val="142A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C8C8"/>
                          </a:solidFill>
                          <a:latin typeface="Inter"/>
                        </a:defRPr>
                      </a:pPr>
                      <a:r>
                        <a:t>Flutter structure, interactive AR simulator logic, UI cards.</a:t>
                      </a:r>
                    </a:p>
                  </a:txBody>
                  <a:tcPr>
                    <a:solidFill>
                      <a:srgbClr val="142A2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C8C8"/>
                          </a:solidFill>
                          <a:latin typeface="Inter"/>
                        </a:defRPr>
                      </a:pPr>
                      <a:r>
                        <a:t>Phase 4: Testing &amp; Presentation</a:t>
                      </a:r>
                    </a:p>
                  </a:txBody>
                  <a:tcPr>
                    <a:solidFill>
                      <a:srgbClr val="142A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C8C8"/>
                          </a:solidFill>
                          <a:latin typeface="Inter"/>
                        </a:defRPr>
                      </a:pPr>
                      <a:r>
                        <a:t>Weeks 12 - 13</a:t>
                      </a:r>
                    </a:p>
                  </a:txBody>
                  <a:tcPr>
                    <a:solidFill>
                      <a:srgbClr val="142A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C8C8"/>
                          </a:solidFill>
                          <a:latin typeface="Inter"/>
                        </a:defRPr>
                      </a:pPr>
                      <a:r>
                        <a:t>User testing, design journal slides, final project reflection.</a:t>
                      </a:r>
                    </a:p>
                  </a:txBody>
                  <a:tcPr>
                    <a:solidFill>
                      <a:srgbClr val="142A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24C"/>
                </a:solidFill>
                <a:latin typeface="Outfit"/>
              </a:defRPr>
            </a:pPr>
            <a:r>
              <a:t>AL SAFA AR DINING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Outfit"/>
              </a:defRPr>
            </a:pPr>
            <a:r>
              <a:t>Sketches &amp; User Storyboard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8C8C8"/>
                </a:solidFill>
                <a:latin typeface="Inter"/>
              </a:defRPr>
            </a:pPr>
            <a:r>
              <a:t>1. Scan QR Stand: Customer scans the wooden table QR stand, which launches the camera scanner and unlocks Table 12.</a:t>
            </a:r>
          </a:p>
          <a:p>
            <a:pPr>
              <a:spcAft>
                <a:spcPts val="800"/>
              </a:spcAft>
              <a:defRPr sz="1300">
                <a:solidFill>
                  <a:srgbClr val="C8C8C8"/>
                </a:solidFill>
                <a:latin typeface="Inter"/>
              </a:defRPr>
            </a:pPr>
            <a:r>
              <a:t>2. Browse Menu: User is presented with a premium layout containing 80 categorized items.</a:t>
            </a:r>
          </a:p>
          <a:p>
            <a:pPr>
              <a:spcAft>
                <a:spcPts val="800"/>
              </a:spcAft>
              <a:defRPr sz="1300">
                <a:solidFill>
                  <a:srgbClr val="C8C8C8"/>
                </a:solidFill>
                <a:latin typeface="Inter"/>
              </a:defRPr>
            </a:pPr>
            <a:r>
              <a:t>3. Detail Selection: Patron selects a dish (e.g. Roti Canai), chooses toppings (egg/cheese) or spiciness.</a:t>
            </a:r>
          </a:p>
          <a:p>
            <a:pPr>
              <a:spcAft>
                <a:spcPts val="800"/>
              </a:spcAft>
              <a:defRPr sz="1300">
                <a:solidFill>
                  <a:srgbClr val="C8C8C8"/>
                </a:solidFill>
                <a:latin typeface="Inter"/>
              </a:defRPr>
            </a:pPr>
            <a:r>
              <a:t>4. Interactive Customizer: Taps 'VIEW IN AR' to adjust sliders (gravy banjir/sweetness) and verify visual representation changes in real-time.</a:t>
            </a:r>
          </a:p>
          <a:p>
            <a:pPr>
              <a:spcAft>
                <a:spcPts val="800"/>
              </a:spcAft>
              <a:defRPr sz="1300">
                <a:solidFill>
                  <a:srgbClr val="C8C8C8"/>
                </a:solidFill>
                <a:latin typeface="Inter"/>
              </a:defRPr>
            </a:pPr>
            <a:r>
              <a:t>5. Checkout &amp; Confirmed: Order is placed directly to Table 12, estimating 5-10 minutes preparation.</a:t>
            </a:r>
          </a:p>
        </p:txBody>
      </p:sp>
      <p:pic>
        <p:nvPicPr>
          <p:cNvPr id="6" name="Picture 5" descr="qr_st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645920"/>
            <a:ext cx="3474720" cy="3474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